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256" r:id="rId2"/>
    <p:sldId id="257" r:id="rId3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584" y="-3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B107C-74A1-4264-9517-16CF7B47CE0B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2050" y="1143000"/>
            <a:ext cx="1993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2E660-E257-4D19-BC0F-6B1EBE5EF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5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32050" y="1143000"/>
            <a:ext cx="1993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2E660-E257-4D19-BC0F-6B1EBE5EF1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7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9E82-1512-11F9-F154-091AC154C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8C2D3-8A20-D860-9616-1D820A98E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32050" y="1143000"/>
            <a:ext cx="19939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B3C3B-4DCC-F70B-EBCA-94FBCF493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E9715-7EB1-0B50-815F-9351130E2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2E660-E257-4D19-BC0F-6B1EBE5EF1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1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3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7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5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9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06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7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D92DC-B20E-42B2-9E8F-7375D59073A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09650-7E68-4EDA-99DA-75A92E3D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9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BB68746-BE33-4F2F-9D86-A357E4D269C2}"/>
              </a:ext>
            </a:extLst>
          </p:cNvPr>
          <p:cNvGrpSpPr/>
          <p:nvPr/>
        </p:nvGrpSpPr>
        <p:grpSpPr>
          <a:xfrm>
            <a:off x="4519324" y="3208637"/>
            <a:ext cx="990431" cy="1424890"/>
            <a:chOff x="214044" y="7179205"/>
            <a:chExt cx="990431" cy="1691204"/>
          </a:xfrm>
        </p:grpSpPr>
        <p:cxnSp>
          <p:nvCxnSpPr>
            <p:cNvPr id="223" name="Connector: Elbow 222">
              <a:extLst>
                <a:ext uri="{FF2B5EF4-FFF2-40B4-BE49-F238E27FC236}">
                  <a16:creationId xmlns:a16="http://schemas.microsoft.com/office/drawing/2014/main" id="{B6E46EBA-17A6-B496-35A2-30105D11DF7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219292" y="7928081"/>
              <a:ext cx="1509699" cy="374955"/>
            </a:xfrm>
            <a:prstGeom prst="bentConnector3">
              <a:avLst>
                <a:gd name="adj1" fmla="val 315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FD3F3019-FB37-3313-B10D-564C2613B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2413" y="7362609"/>
              <a:ext cx="381275" cy="9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: Elbow 224">
              <a:extLst>
                <a:ext uri="{FF2B5EF4-FFF2-40B4-BE49-F238E27FC236}">
                  <a16:creationId xmlns:a16="http://schemas.microsoft.com/office/drawing/2014/main" id="{B3BCCFB4-BF87-A176-8DF0-E85160377BA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119" y="8054767"/>
              <a:ext cx="1275310" cy="355973"/>
            </a:xfrm>
            <a:prstGeom prst="bentConnector3">
              <a:avLst>
                <a:gd name="adj1" fmla="val 332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A1501B2-0A54-2A97-E24D-5260F3F5A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953" y="7597956"/>
              <a:ext cx="37252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ctor: Elbow 226">
              <a:extLst>
                <a:ext uri="{FF2B5EF4-FFF2-40B4-BE49-F238E27FC236}">
                  <a16:creationId xmlns:a16="http://schemas.microsoft.com/office/drawing/2014/main" id="{74B60A55-A43E-1B90-17E9-1A95CDED818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426345" y="7830359"/>
              <a:ext cx="1679962" cy="399183"/>
            </a:xfrm>
            <a:prstGeom prst="bentConnector3">
              <a:avLst>
                <a:gd name="adj1" fmla="val 248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DF5D4EE-650A-BBCC-5DEA-726E5F466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632" y="7193542"/>
              <a:ext cx="37793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28EBC2D7-7F0D-B2FC-CD6D-F40A0A322FB3}"/>
                </a:ext>
              </a:extLst>
            </p:cNvPr>
            <p:cNvSpPr/>
            <p:nvPr/>
          </p:nvSpPr>
          <p:spPr>
            <a:xfrm>
              <a:off x="706234" y="7347481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BF0192AB-9ADC-1A07-2372-88F777C62BAA}"/>
                </a:ext>
              </a:extLst>
            </p:cNvPr>
            <p:cNvSpPr/>
            <p:nvPr/>
          </p:nvSpPr>
          <p:spPr>
            <a:xfrm>
              <a:off x="818153" y="7585056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EDADA9DB-299E-9215-6FEC-1B27697DFA7B}"/>
                </a:ext>
              </a:extLst>
            </p:cNvPr>
            <p:cNvSpPr/>
            <p:nvPr/>
          </p:nvSpPr>
          <p:spPr>
            <a:xfrm>
              <a:off x="597699" y="717920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21D715-EDEB-A784-A76B-EFC2C2BF3133}"/>
              </a:ext>
            </a:extLst>
          </p:cNvPr>
          <p:cNvGrpSpPr/>
          <p:nvPr/>
        </p:nvGrpSpPr>
        <p:grpSpPr>
          <a:xfrm>
            <a:off x="6453727" y="3244618"/>
            <a:ext cx="990431" cy="1387508"/>
            <a:chOff x="214044" y="7179205"/>
            <a:chExt cx="990431" cy="1691204"/>
          </a:xfrm>
        </p:grpSpPr>
        <p:cxnSp>
          <p:nvCxnSpPr>
            <p:cNvPr id="240" name="Connector: Elbow 239">
              <a:extLst>
                <a:ext uri="{FF2B5EF4-FFF2-40B4-BE49-F238E27FC236}">
                  <a16:creationId xmlns:a16="http://schemas.microsoft.com/office/drawing/2014/main" id="{05DC5CA5-5D2B-0ED0-6DD7-5E6221AC632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219292" y="7928081"/>
              <a:ext cx="1509699" cy="374955"/>
            </a:xfrm>
            <a:prstGeom prst="bentConnector3">
              <a:avLst>
                <a:gd name="adj1" fmla="val 315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381E065-BB79-7D21-07A8-67F0ACC44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2413" y="7362609"/>
              <a:ext cx="381275" cy="9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ctor: Elbow 241">
              <a:extLst>
                <a:ext uri="{FF2B5EF4-FFF2-40B4-BE49-F238E27FC236}">
                  <a16:creationId xmlns:a16="http://schemas.microsoft.com/office/drawing/2014/main" id="{AAEE6684-EF7B-976F-215D-AE877B1E706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119" y="8054767"/>
              <a:ext cx="1275310" cy="355973"/>
            </a:xfrm>
            <a:prstGeom prst="bentConnector3">
              <a:avLst>
                <a:gd name="adj1" fmla="val 332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CC95AF2E-ABAD-8747-0730-D68DF5017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953" y="7597956"/>
              <a:ext cx="37252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or: Elbow 243">
              <a:extLst>
                <a:ext uri="{FF2B5EF4-FFF2-40B4-BE49-F238E27FC236}">
                  <a16:creationId xmlns:a16="http://schemas.microsoft.com/office/drawing/2014/main" id="{35B59241-7261-39FC-3C94-31F02668E6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426345" y="7830359"/>
              <a:ext cx="1679962" cy="399183"/>
            </a:xfrm>
            <a:prstGeom prst="bentConnector3">
              <a:avLst>
                <a:gd name="adj1" fmla="val 248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4AF814C-8AB9-9809-4F14-97F9A84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632" y="7193542"/>
              <a:ext cx="37793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6CEB29E6-9896-8A1A-5334-AF65EA2F56CB}"/>
                </a:ext>
              </a:extLst>
            </p:cNvPr>
            <p:cNvSpPr/>
            <p:nvPr/>
          </p:nvSpPr>
          <p:spPr>
            <a:xfrm>
              <a:off x="706234" y="7347481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03A67551-7AA4-566E-6E7E-BCF98A3B03FB}"/>
                </a:ext>
              </a:extLst>
            </p:cNvPr>
            <p:cNvSpPr/>
            <p:nvPr/>
          </p:nvSpPr>
          <p:spPr>
            <a:xfrm>
              <a:off x="818153" y="7585056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85D71ABC-D0EC-A493-5179-C05A67144DFA}"/>
                </a:ext>
              </a:extLst>
            </p:cNvPr>
            <p:cNvSpPr/>
            <p:nvPr/>
          </p:nvSpPr>
          <p:spPr>
            <a:xfrm>
              <a:off x="597699" y="717920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2D34BA9-7D56-49FE-B1A9-1F8A89AC414D}"/>
              </a:ext>
            </a:extLst>
          </p:cNvPr>
          <p:cNvSpPr txBox="1"/>
          <p:nvPr/>
        </p:nvSpPr>
        <p:spPr>
          <a:xfrm>
            <a:off x="206702" y="132763"/>
            <a:ext cx="9565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Final Monte Carlo simulation workflow diagram for Nebraska state (page 1/2)</a:t>
            </a:r>
          </a:p>
          <a:p>
            <a:pPr algn="ctr"/>
            <a:r>
              <a:rPr lang="en-US" sz="1000" dirty="0"/>
              <a:t>Gabriel D. Ferreira and Shahriar S. Heydari, 6/17/2026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85C1F7-50C0-D7C2-C4F7-D3FE495C98AD}"/>
              </a:ext>
            </a:extLst>
          </p:cNvPr>
          <p:cNvSpPr txBox="1"/>
          <p:nvPr/>
        </p:nvSpPr>
        <p:spPr>
          <a:xfrm>
            <a:off x="265066" y="2297826"/>
            <a:ext cx="2802044" cy="258532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N: number of Monte Carlo (MC) Iterations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COT: Change-Over-Time category (defined in Table1)</a:t>
            </a:r>
          </a:p>
          <a:p>
            <a:r>
              <a:rPr lang="en-US" sz="900" i="1" dirty="0">
                <a:solidFill>
                  <a:schemeClr val="accent2"/>
                </a:solidFill>
              </a:rPr>
              <a:t>Map statistics: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[</a:t>
            </a:r>
            <a:r>
              <a:rPr lang="en-US" sz="900" dirty="0" err="1">
                <a:solidFill>
                  <a:schemeClr val="accent2"/>
                </a:solidFill>
              </a:rPr>
              <a:t>Mean_bias</a:t>
            </a:r>
            <a:r>
              <a:rPr lang="en-US" sz="900" dirty="0">
                <a:solidFill>
                  <a:schemeClr val="accent2"/>
                </a:solidFill>
              </a:rPr>
              <a:t>, </a:t>
            </a:r>
            <a:r>
              <a:rPr lang="en-US" sz="900" dirty="0" err="1">
                <a:solidFill>
                  <a:schemeClr val="accent2"/>
                </a:solidFill>
              </a:rPr>
              <a:t>mean_bias_variance</a:t>
            </a:r>
            <a:r>
              <a:rPr lang="en-US" sz="900" dirty="0">
                <a:solidFill>
                  <a:schemeClr val="accent2"/>
                </a:solidFill>
              </a:rPr>
              <a:t>]: These statistics represent the bias in tree proportion presented in classifier maps compared to tree proportion in reference maps. Taking this statistics as a normal distribution, a bias value (d) is drawn on each monte </a:t>
            </a:r>
            <a:r>
              <a:rPr lang="en-US" sz="900" dirty="0" err="1">
                <a:solidFill>
                  <a:schemeClr val="accent2"/>
                </a:solidFill>
              </a:rPr>
              <a:t>carlo</a:t>
            </a:r>
            <a:r>
              <a:rPr lang="en-US" sz="900" dirty="0">
                <a:solidFill>
                  <a:schemeClr val="accent2"/>
                </a:solidFill>
              </a:rPr>
              <a:t> iteration and then three yearly areas are calculated as shown below:</a:t>
            </a:r>
          </a:p>
          <a:p>
            <a:endParaRPr lang="en-US" sz="900" dirty="0">
              <a:solidFill>
                <a:schemeClr val="accent2"/>
              </a:solidFill>
            </a:endParaRPr>
          </a:p>
          <a:p>
            <a:r>
              <a:rPr lang="en-US" sz="900" dirty="0">
                <a:solidFill>
                  <a:schemeClr val="accent2"/>
                </a:solidFill>
              </a:rPr>
              <a:t>A*_2010 = A_map_2010 + d × </a:t>
            </a:r>
            <a:r>
              <a:rPr lang="en-US" sz="900" dirty="0" err="1">
                <a:solidFill>
                  <a:schemeClr val="accent2"/>
                </a:solidFill>
              </a:rPr>
              <a:t>A_total</a:t>
            </a:r>
            <a:endParaRPr lang="en-US" sz="900" dirty="0">
              <a:solidFill>
                <a:schemeClr val="accent2"/>
              </a:solidFill>
            </a:endParaRPr>
          </a:p>
          <a:p>
            <a:r>
              <a:rPr lang="en-US" sz="900" dirty="0">
                <a:solidFill>
                  <a:schemeClr val="accent2"/>
                </a:solidFill>
              </a:rPr>
              <a:t>A*_2016 = A_map_2016 + d × </a:t>
            </a:r>
            <a:r>
              <a:rPr lang="en-US" sz="900" dirty="0" err="1">
                <a:solidFill>
                  <a:schemeClr val="accent2"/>
                </a:solidFill>
              </a:rPr>
              <a:t>A_total</a:t>
            </a:r>
            <a:endParaRPr lang="en-US" sz="900" dirty="0">
              <a:solidFill>
                <a:schemeClr val="accent2"/>
              </a:solidFill>
            </a:endParaRPr>
          </a:p>
          <a:p>
            <a:r>
              <a:rPr lang="en-US" sz="900" dirty="0">
                <a:solidFill>
                  <a:schemeClr val="accent2"/>
                </a:solidFill>
              </a:rPr>
              <a:t>A*_2020 = A_map_2020 + d × </a:t>
            </a:r>
            <a:r>
              <a:rPr lang="en-US" sz="900" dirty="0" err="1">
                <a:solidFill>
                  <a:schemeClr val="accent2"/>
                </a:solidFill>
              </a:rPr>
              <a:t>A_total</a:t>
            </a:r>
            <a:endParaRPr lang="en-US" sz="900" dirty="0">
              <a:solidFill>
                <a:schemeClr val="accent2"/>
              </a:solidFill>
            </a:endParaRPr>
          </a:p>
          <a:p>
            <a:r>
              <a:rPr lang="en-US" sz="900" dirty="0">
                <a:solidFill>
                  <a:schemeClr val="accent2"/>
                </a:solidFill>
              </a:rPr>
              <a:t>where: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A*_xxx = bias-corrected tree area for year xxx</a:t>
            </a:r>
          </a:p>
          <a:p>
            <a:r>
              <a:rPr lang="en-US" sz="900" dirty="0" err="1">
                <a:solidFill>
                  <a:schemeClr val="accent2"/>
                </a:solidFill>
              </a:rPr>
              <a:t>A_map_xxx</a:t>
            </a:r>
            <a:r>
              <a:rPr lang="en-US" sz="900" dirty="0">
                <a:solidFill>
                  <a:schemeClr val="accent2"/>
                </a:solidFill>
              </a:rPr>
              <a:t>: mapped tree area for year xxx</a:t>
            </a:r>
          </a:p>
          <a:p>
            <a:r>
              <a:rPr lang="en-US" sz="900" dirty="0" err="1">
                <a:solidFill>
                  <a:schemeClr val="accent2"/>
                </a:solidFill>
              </a:rPr>
              <a:t>A_total</a:t>
            </a:r>
            <a:r>
              <a:rPr lang="en-US" sz="900" dirty="0">
                <a:solidFill>
                  <a:schemeClr val="accent2"/>
                </a:solidFill>
              </a:rPr>
              <a:t>: total NE area state (200,328,919 km2)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A0C1623-0733-1AB1-49D1-1E695186D5C5}"/>
              </a:ext>
            </a:extLst>
          </p:cNvPr>
          <p:cNvGrpSpPr/>
          <p:nvPr/>
        </p:nvGrpSpPr>
        <p:grpSpPr>
          <a:xfrm>
            <a:off x="3290386" y="3123543"/>
            <a:ext cx="1485186" cy="848679"/>
            <a:chOff x="3419475" y="2047875"/>
            <a:chExt cx="1800225" cy="1028700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869A323-5581-6277-D0FE-582333DAC716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EC18A50-C672-6AB0-4957-FC3FFE6D38BB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F3B3E2E-6B1D-36E7-1357-8F53381A7DD9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Monte Carlo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Corrected area size (2010)</a:t>
              </a: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0D9BEE01-1B2E-95C0-0A15-1FD5B9E4289C}"/>
              </a:ext>
            </a:extLst>
          </p:cNvPr>
          <p:cNvSpPr txBox="1"/>
          <p:nvPr/>
        </p:nvSpPr>
        <p:spPr>
          <a:xfrm>
            <a:off x="3231919" y="3430574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22F52CA-69A3-1251-06F2-2BDE3E134A21}"/>
              </a:ext>
            </a:extLst>
          </p:cNvPr>
          <p:cNvSpPr txBox="1"/>
          <p:nvPr/>
        </p:nvSpPr>
        <p:spPr>
          <a:xfrm>
            <a:off x="3352931" y="3610419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595917E-C033-FF0E-3AC7-FE2ECA3D5116}"/>
              </a:ext>
            </a:extLst>
          </p:cNvPr>
          <p:cNvSpPr txBox="1"/>
          <p:nvPr/>
        </p:nvSpPr>
        <p:spPr>
          <a:xfrm>
            <a:off x="3494320" y="3797426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C112626F-6C6B-0BE3-F883-B665745CD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395984"/>
              </p:ext>
            </p:extLst>
          </p:nvPr>
        </p:nvGraphicFramePr>
        <p:xfrm>
          <a:off x="235401" y="12833325"/>
          <a:ext cx="9602950" cy="1875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97">
                  <a:extLst>
                    <a:ext uri="{9D8B030D-6E8A-4147-A177-3AD203B41FA5}">
                      <a16:colId xmlns:a16="http://schemas.microsoft.com/office/drawing/2014/main" val="3426485397"/>
                    </a:ext>
                  </a:extLst>
                </a:gridCol>
                <a:gridCol w="282885">
                  <a:extLst>
                    <a:ext uri="{9D8B030D-6E8A-4147-A177-3AD203B41FA5}">
                      <a16:colId xmlns:a16="http://schemas.microsoft.com/office/drawing/2014/main" val="968078264"/>
                    </a:ext>
                  </a:extLst>
                </a:gridCol>
                <a:gridCol w="324917">
                  <a:extLst>
                    <a:ext uri="{9D8B030D-6E8A-4147-A177-3AD203B41FA5}">
                      <a16:colId xmlns:a16="http://schemas.microsoft.com/office/drawing/2014/main" val="410529450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10441804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1990417368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174648096"/>
                    </a:ext>
                  </a:extLst>
                </a:gridCol>
                <a:gridCol w="1997953">
                  <a:extLst>
                    <a:ext uri="{9D8B030D-6E8A-4147-A177-3AD203B41FA5}">
                      <a16:colId xmlns:a16="http://schemas.microsoft.com/office/drawing/2014/main" val="1181776848"/>
                    </a:ext>
                  </a:extLst>
                </a:gridCol>
                <a:gridCol w="1188220">
                  <a:extLst>
                    <a:ext uri="{9D8B030D-6E8A-4147-A177-3AD203B41FA5}">
                      <a16:colId xmlns:a16="http://schemas.microsoft.com/office/drawing/2014/main" val="3913242028"/>
                    </a:ext>
                  </a:extLst>
                </a:gridCol>
                <a:gridCol w="1813478">
                  <a:extLst>
                    <a:ext uri="{9D8B030D-6E8A-4147-A177-3AD203B41FA5}">
                      <a16:colId xmlns:a16="http://schemas.microsoft.com/office/drawing/2014/main" val="1837782832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Classified map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COT</a:t>
                      </a:r>
                    </a:p>
                  </a:txBody>
                  <a:tcPr marL="9525" marR="9525" marT="9525" marB="0"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68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2011 ~ 2015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2017 ~ 2019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2020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427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071033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plantation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age between 1- 4 years old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55900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plantation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age between 1- 6 years old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harvesting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15782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plantation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age between 1- 6 years old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Age 2016 + 4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99518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draw from COT3&amp;4” distribution*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harvesting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01376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draw from COT3&amp;4 distribution*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harvesting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plantation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age between 1- 4 years old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83303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6 years before assigned age for 2016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draw from COT4 distribution*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harvesting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9385089"/>
                  </a:ext>
                </a:extLst>
              </a:tr>
              <a:tr h="1606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6 years before assigned age for 2016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random draw from COT9 distribution*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4 years after assigned age for 2016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411683"/>
                  </a:ext>
                </a:extLst>
              </a:tr>
            </a:tbl>
          </a:graphicData>
        </a:graphic>
      </p:graphicFrame>
      <p:grpSp>
        <p:nvGrpSpPr>
          <p:cNvPr id="78" name="Group 77">
            <a:extLst>
              <a:ext uri="{FF2B5EF4-FFF2-40B4-BE49-F238E27FC236}">
                <a16:creationId xmlns:a16="http://schemas.microsoft.com/office/drawing/2014/main" id="{F3CD922C-58EB-66A2-EABC-BB7CF49C3822}"/>
              </a:ext>
            </a:extLst>
          </p:cNvPr>
          <p:cNvGrpSpPr/>
          <p:nvPr/>
        </p:nvGrpSpPr>
        <p:grpSpPr>
          <a:xfrm>
            <a:off x="5247622" y="3128224"/>
            <a:ext cx="1485186" cy="848679"/>
            <a:chOff x="3419475" y="2047875"/>
            <a:chExt cx="1800225" cy="102870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E66FF8C-B869-28C6-B291-951F59325B17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410A75D-0C2F-B5F9-06D4-E9AF161CF258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13735AF-C72C-40C8-8D91-B0CD69EBA429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Monte Carlo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Corrected area size (2016)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9EAF531-28A7-B8EE-ADC2-938626892B6A}"/>
              </a:ext>
            </a:extLst>
          </p:cNvPr>
          <p:cNvSpPr txBox="1"/>
          <p:nvPr/>
        </p:nvSpPr>
        <p:spPr>
          <a:xfrm>
            <a:off x="5189155" y="3435255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1FC75F-2972-C75D-47CC-5839675104A0}"/>
              </a:ext>
            </a:extLst>
          </p:cNvPr>
          <p:cNvSpPr txBox="1"/>
          <p:nvPr/>
        </p:nvSpPr>
        <p:spPr>
          <a:xfrm>
            <a:off x="5310167" y="3615100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ABCBB51-88B0-8B4E-D04B-002B0D6923C0}"/>
              </a:ext>
            </a:extLst>
          </p:cNvPr>
          <p:cNvSpPr txBox="1"/>
          <p:nvPr/>
        </p:nvSpPr>
        <p:spPr>
          <a:xfrm>
            <a:off x="5451556" y="3802107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5EB5E85-1DD8-3265-8CB9-5451A4E77A34}"/>
              </a:ext>
            </a:extLst>
          </p:cNvPr>
          <p:cNvGrpSpPr/>
          <p:nvPr/>
        </p:nvGrpSpPr>
        <p:grpSpPr>
          <a:xfrm>
            <a:off x="7143326" y="3128225"/>
            <a:ext cx="1543653" cy="889327"/>
            <a:chOff x="4258925" y="2999262"/>
            <a:chExt cx="1543653" cy="88932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F6ECD76-AC39-2976-5A09-ABE4C8C6FF7C}"/>
                </a:ext>
              </a:extLst>
            </p:cNvPr>
            <p:cNvGrpSpPr/>
            <p:nvPr/>
          </p:nvGrpSpPr>
          <p:grpSpPr>
            <a:xfrm>
              <a:off x="4317392" y="2999262"/>
              <a:ext cx="1485186" cy="848678"/>
              <a:chOff x="3419475" y="2047875"/>
              <a:chExt cx="1800225" cy="1028700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F6E7589-AB3F-FB23-48E8-AFD106E70E48}"/>
                  </a:ext>
                </a:extLst>
              </p:cNvPr>
              <p:cNvSpPr/>
              <p:nvPr/>
            </p:nvSpPr>
            <p:spPr>
              <a:xfrm>
                <a:off x="3724275" y="2505075"/>
                <a:ext cx="1495425" cy="5715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1FE2EC3-F8B8-3233-DF2A-DB91000673E4}"/>
                  </a:ext>
                </a:extLst>
              </p:cNvPr>
              <p:cNvSpPr/>
              <p:nvPr/>
            </p:nvSpPr>
            <p:spPr>
              <a:xfrm>
                <a:off x="3571875" y="2276475"/>
                <a:ext cx="1495425" cy="571500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7F7B25B-68E5-B9A2-48DE-85CF75389953}"/>
                  </a:ext>
                </a:extLst>
              </p:cNvPr>
              <p:cNvSpPr/>
              <p:nvPr/>
            </p:nvSpPr>
            <p:spPr>
              <a:xfrm>
                <a:off x="3419475" y="2047875"/>
                <a:ext cx="1495425" cy="571500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Monte Carlo</a:t>
                </a: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Corrected area size (2020)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0E1F624-16F0-1B5C-235E-6D955A3E0747}"/>
                </a:ext>
              </a:extLst>
            </p:cNvPr>
            <p:cNvSpPr txBox="1"/>
            <p:nvPr/>
          </p:nvSpPr>
          <p:spPr>
            <a:xfrm>
              <a:off x="4258925" y="3306293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1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6DE8595-C345-954B-145D-1852EC00B6AD}"/>
                </a:ext>
              </a:extLst>
            </p:cNvPr>
            <p:cNvSpPr txBox="1"/>
            <p:nvPr/>
          </p:nvSpPr>
          <p:spPr>
            <a:xfrm>
              <a:off x="4379937" y="3486138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F711874-95D2-B741-BC75-80933859B0E4}"/>
                </a:ext>
              </a:extLst>
            </p:cNvPr>
            <p:cNvSpPr txBox="1"/>
            <p:nvPr/>
          </p:nvSpPr>
          <p:spPr>
            <a:xfrm>
              <a:off x="4521326" y="3673144"/>
              <a:ext cx="2568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N</a:t>
              </a:r>
            </a:p>
          </p:txBody>
        </p: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F1970558-3A7A-D065-9ADE-07C5FB27D1D0}"/>
              </a:ext>
            </a:extLst>
          </p:cNvPr>
          <p:cNvSpPr txBox="1"/>
          <p:nvPr/>
        </p:nvSpPr>
        <p:spPr>
          <a:xfrm>
            <a:off x="2325862" y="8160310"/>
            <a:ext cx="40469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Sum biomass values (initial, gain, loss, and change) over all COTs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F1128-3D70-2576-DAC3-7E1C6BB79EA8}"/>
              </a:ext>
            </a:extLst>
          </p:cNvPr>
          <p:cNvSpPr txBox="1"/>
          <p:nvPr/>
        </p:nvSpPr>
        <p:spPr>
          <a:xfrm>
            <a:off x="3226137" y="4638103"/>
            <a:ext cx="531383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1) Assign area size to each COT</a:t>
            </a:r>
          </a:p>
          <a:p>
            <a:pPr algn="ctr"/>
            <a:r>
              <a:rPr lang="en-US" sz="900" dirty="0">
                <a:solidFill>
                  <a:schemeClr val="accent1"/>
                </a:solidFill>
              </a:rPr>
              <a:t>2) Do Plant/harvest year assignment for each COT as needed (§)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C9F73EB-5D64-67CF-6546-D00FAD723721}"/>
              </a:ext>
            </a:extLst>
          </p:cNvPr>
          <p:cNvGrpSpPr/>
          <p:nvPr/>
        </p:nvGrpSpPr>
        <p:grpSpPr>
          <a:xfrm>
            <a:off x="2602561" y="7015686"/>
            <a:ext cx="1485187" cy="848679"/>
            <a:chOff x="3419475" y="2047875"/>
            <a:chExt cx="1800225" cy="1028700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91815CE-D01A-2309-9F7E-304408D7975B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959276BF-A854-F28A-B893-3C32731B0D1B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35CDE882-0830-D3AE-C6F5-C1808FA2BD6F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Initial, gain, and loss of biomass data set 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(2010-2016)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748DCE6-63B0-DEE7-4E07-B2EFD21E8CED}"/>
              </a:ext>
            </a:extLst>
          </p:cNvPr>
          <p:cNvGrpSpPr/>
          <p:nvPr/>
        </p:nvGrpSpPr>
        <p:grpSpPr>
          <a:xfrm>
            <a:off x="4392023" y="7023306"/>
            <a:ext cx="1485187" cy="848676"/>
            <a:chOff x="3419475" y="2047876"/>
            <a:chExt cx="1800225" cy="1028699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B965625B-76D7-181D-9C24-35030ECB6E79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C6CA8F8-9B69-93C1-A1BC-97E435616FDD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022098B2-E9F5-3C31-F701-A444898A338A}"/>
                </a:ext>
              </a:extLst>
            </p:cNvPr>
            <p:cNvSpPr/>
            <p:nvPr/>
          </p:nvSpPr>
          <p:spPr>
            <a:xfrm>
              <a:off x="3419475" y="2047876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Initial, gain, and loss of biomass data set 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(2016-2020)</a:t>
              </a:r>
            </a:p>
          </p:txBody>
        </p:sp>
      </p:grp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E5A9A42F-C610-3DF8-AF9E-60650119F061}"/>
              </a:ext>
            </a:extLst>
          </p:cNvPr>
          <p:cNvCxnSpPr>
            <a:cxnSpLocks/>
            <a:stCxn id="218" idx="2"/>
          </p:cNvCxnSpPr>
          <p:nvPr/>
        </p:nvCxnSpPr>
        <p:spPr>
          <a:xfrm flipH="1">
            <a:off x="3468321" y="7864365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797BD5E2-01C6-B4C9-11E4-1FCE0105B325}"/>
              </a:ext>
            </a:extLst>
          </p:cNvPr>
          <p:cNvCxnSpPr>
            <a:cxnSpLocks/>
          </p:cNvCxnSpPr>
          <p:nvPr/>
        </p:nvCxnSpPr>
        <p:spPr>
          <a:xfrm>
            <a:off x="5262694" y="7864355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ABE1B25A-BB47-2FA1-2098-2F172932D85A}"/>
              </a:ext>
            </a:extLst>
          </p:cNvPr>
          <p:cNvSpPr txBox="1"/>
          <p:nvPr/>
        </p:nvSpPr>
        <p:spPr>
          <a:xfrm>
            <a:off x="2542543" y="7303098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F1B784E-9605-5B15-91FD-DDCEA11CB616}"/>
              </a:ext>
            </a:extLst>
          </p:cNvPr>
          <p:cNvSpPr txBox="1"/>
          <p:nvPr/>
        </p:nvSpPr>
        <p:spPr>
          <a:xfrm>
            <a:off x="2658802" y="7511520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78D3396-76B9-4CF1-D033-FE713BAFF1D4}"/>
              </a:ext>
            </a:extLst>
          </p:cNvPr>
          <p:cNvSpPr txBox="1"/>
          <p:nvPr/>
        </p:nvSpPr>
        <p:spPr>
          <a:xfrm>
            <a:off x="2795422" y="7698513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2F39D-D5B3-3F05-5C0D-80D03703A7E6}"/>
              </a:ext>
            </a:extLst>
          </p:cNvPr>
          <p:cNvSpPr txBox="1"/>
          <p:nvPr/>
        </p:nvSpPr>
        <p:spPr>
          <a:xfrm>
            <a:off x="4331538" y="7320841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6B69B-429C-8D83-2EC3-5522E7F7678A}"/>
              </a:ext>
            </a:extLst>
          </p:cNvPr>
          <p:cNvSpPr txBox="1"/>
          <p:nvPr/>
        </p:nvSpPr>
        <p:spPr>
          <a:xfrm>
            <a:off x="4445127" y="7517985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0B552-4857-F168-D74F-ECCBED8CA479}"/>
              </a:ext>
            </a:extLst>
          </p:cNvPr>
          <p:cNvSpPr txBox="1"/>
          <p:nvPr/>
        </p:nvSpPr>
        <p:spPr>
          <a:xfrm>
            <a:off x="4579165" y="7698396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FCE092-41C2-DD79-EF28-DBA39BB08A29}"/>
              </a:ext>
            </a:extLst>
          </p:cNvPr>
          <p:cNvCxnSpPr>
            <a:cxnSpLocks/>
          </p:cNvCxnSpPr>
          <p:nvPr/>
        </p:nvCxnSpPr>
        <p:spPr>
          <a:xfrm flipH="1">
            <a:off x="4904599" y="6604207"/>
            <a:ext cx="1975" cy="4163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3ABAFF0-4C0C-ACA9-F365-B2844B1FA492}"/>
              </a:ext>
            </a:extLst>
          </p:cNvPr>
          <p:cNvSpPr txBox="1"/>
          <p:nvPr/>
        </p:nvSpPr>
        <p:spPr>
          <a:xfrm>
            <a:off x="3045770" y="6227429"/>
            <a:ext cx="21008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Calculate COT-level standing biomass at 2010, 2016, and 2020 (§§)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A5D407-37F2-97E0-30EB-CD822B16CF70}"/>
              </a:ext>
            </a:extLst>
          </p:cNvPr>
          <p:cNvCxnSpPr>
            <a:cxnSpLocks/>
          </p:cNvCxnSpPr>
          <p:nvPr/>
        </p:nvCxnSpPr>
        <p:spPr>
          <a:xfrm>
            <a:off x="3200602" y="6596587"/>
            <a:ext cx="0" cy="423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BDA1836-49C1-8F00-8A24-39E2DC14A286}"/>
              </a:ext>
            </a:extLst>
          </p:cNvPr>
          <p:cNvSpPr txBox="1"/>
          <p:nvPr/>
        </p:nvSpPr>
        <p:spPr>
          <a:xfrm>
            <a:off x="185280" y="10315599"/>
            <a:ext cx="9562880" cy="1061829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(§§) Having plant/harvest years, we can calculate standing biomass at each year and how the biomass changes through given periods for each COT category: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Standing biomass is counted from planting year onwards to the period start.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If tree is harvested, all previous biomass is lost at the harvesting year.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If tree is not harvested, the biomass will increase by a factor according to the age class (young/mature/old) defined by age thresholds. 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The above calculations are done at COT-level, then multiplied by COT category area to obtain biomass change over COT area.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Note that the growing gain values for each Monte Carlo iteration is drawn from a normal distribution with given mean and standard deviation. These values are already calculated and saved in a .csv file and consumed during Monte Carlo simulation.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985B05-7B93-BB0B-B3A9-D83B8B808E9E}"/>
              </a:ext>
            </a:extLst>
          </p:cNvPr>
          <p:cNvSpPr txBox="1"/>
          <p:nvPr/>
        </p:nvSpPr>
        <p:spPr>
          <a:xfrm>
            <a:off x="185280" y="9528585"/>
            <a:ext cx="9562880" cy="646331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(§) This processing is done in below steps for each COT category: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Random plantation/harvesting years are assigned for cases given in Table 1.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An age for 2016 is assigned for cases 110 and 111 and the corresponding planting year is set. 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An age for 2010 is assigned for cases 100 and 101 and the corresponding planting year is set (will be before 2010).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A3C9E8-5354-1B04-29F6-556D77E8DB2A}"/>
              </a:ext>
            </a:extLst>
          </p:cNvPr>
          <p:cNvSpPr txBox="1"/>
          <p:nvPr/>
        </p:nvSpPr>
        <p:spPr>
          <a:xfrm>
            <a:off x="3541573" y="12510073"/>
            <a:ext cx="2331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Table 1 </a:t>
            </a:r>
            <a:r>
              <a:rPr lang="en-US" sz="900" dirty="0"/>
              <a:t>(COT=Change-Over-Time code)</a:t>
            </a:r>
            <a:endParaRPr lang="en-US" sz="14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DBF3551-82BE-3966-3D6F-93A1CE348283}"/>
              </a:ext>
            </a:extLst>
          </p:cNvPr>
          <p:cNvSpPr txBox="1"/>
          <p:nvPr/>
        </p:nvSpPr>
        <p:spPr>
          <a:xfrm>
            <a:off x="168822" y="14712315"/>
            <a:ext cx="5498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* These distributions are given as a csv file. A random draw with replacement is used to select among them.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2E04E92-C2F9-D234-E207-4621FECAF603}"/>
              </a:ext>
            </a:extLst>
          </p:cNvPr>
          <p:cNvSpPr txBox="1"/>
          <p:nvPr/>
        </p:nvSpPr>
        <p:spPr>
          <a:xfrm>
            <a:off x="1183014" y="6317872"/>
            <a:ext cx="1110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Biomass growth factors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56F2D8D-8C59-EDC7-8805-61CDA5EE04F6}"/>
              </a:ext>
            </a:extLst>
          </p:cNvPr>
          <p:cNvCxnSpPr>
            <a:cxnSpLocks/>
          </p:cNvCxnSpPr>
          <p:nvPr/>
        </p:nvCxnSpPr>
        <p:spPr>
          <a:xfrm>
            <a:off x="2325862" y="6426142"/>
            <a:ext cx="554372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51AAD88-4BFF-2F29-3A38-ED8A8FB1F41E}"/>
              </a:ext>
            </a:extLst>
          </p:cNvPr>
          <p:cNvSpPr txBox="1"/>
          <p:nvPr/>
        </p:nvSpPr>
        <p:spPr>
          <a:xfrm>
            <a:off x="6439170" y="6232649"/>
            <a:ext cx="2100803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Calculate COT-level histogram of growing and harvested tree ages over </a:t>
            </a:r>
            <a:br>
              <a:rPr lang="en-US" sz="900" dirty="0">
                <a:solidFill>
                  <a:schemeClr val="accent1"/>
                </a:solidFill>
              </a:rPr>
            </a:br>
            <a:r>
              <a:rPr lang="en-US" sz="900" dirty="0">
                <a:solidFill>
                  <a:schemeClr val="accent1"/>
                </a:solidFill>
              </a:rPr>
              <a:t>2010~2016 and 2016~2020 (§§§)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B2352EA-DB63-B9B1-E8D3-8176987F3A7A}"/>
              </a:ext>
            </a:extLst>
          </p:cNvPr>
          <p:cNvSpPr txBox="1"/>
          <p:nvPr/>
        </p:nvSpPr>
        <p:spPr>
          <a:xfrm>
            <a:off x="3468321" y="8682595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COT biomass changes for all iterations 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AAD20D2-7E82-4624-D775-DFC69E2CD463}"/>
              </a:ext>
            </a:extLst>
          </p:cNvPr>
          <p:cNvCxnSpPr>
            <a:cxnSpLocks/>
          </p:cNvCxnSpPr>
          <p:nvPr/>
        </p:nvCxnSpPr>
        <p:spPr>
          <a:xfrm>
            <a:off x="4336401" y="8391142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8A2ADEB-838F-552F-AAAA-C43F91A5F70A}"/>
              </a:ext>
            </a:extLst>
          </p:cNvPr>
          <p:cNvSpPr txBox="1"/>
          <p:nvPr/>
        </p:nvSpPr>
        <p:spPr>
          <a:xfrm>
            <a:off x="6618042" y="7225598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Age histogram for all iterations 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74A8A33-73FF-D789-B0A5-A58675F7E698}"/>
              </a:ext>
            </a:extLst>
          </p:cNvPr>
          <p:cNvCxnSpPr>
            <a:cxnSpLocks/>
          </p:cNvCxnSpPr>
          <p:nvPr/>
        </p:nvCxnSpPr>
        <p:spPr>
          <a:xfrm flipH="1">
            <a:off x="7486612" y="6740480"/>
            <a:ext cx="2959" cy="4856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91980D5-9DC7-F9C4-C555-F44626ED8EA9}"/>
              </a:ext>
            </a:extLst>
          </p:cNvPr>
          <p:cNvSpPr txBox="1"/>
          <p:nvPr/>
        </p:nvSpPr>
        <p:spPr>
          <a:xfrm>
            <a:off x="185280" y="11518111"/>
            <a:ext cx="9562880" cy="78483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(§§§) For this step, the whole age range of 0~160 is binned to 5 year ranges. Then for each iteration/time period: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The average age for any COT category that experiences growth is calculated.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The age of harvest for any COT category that experiences harvest is recorded.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Set of above values for all COT categories are reported to make the histogram for the corresponding iteration/time period.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Note: non-changing pixels are not counted as they do not undergo any growth or harvest.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EB873-C90B-0309-B0BB-25CC74117742}"/>
              </a:ext>
            </a:extLst>
          </p:cNvPr>
          <p:cNvSpPr txBox="1"/>
          <p:nvPr/>
        </p:nvSpPr>
        <p:spPr>
          <a:xfrm>
            <a:off x="7294251" y="1319237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Year 2020 map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5E9A41-DE17-D75F-B654-E3DAF6CD1B81}"/>
              </a:ext>
            </a:extLst>
          </p:cNvPr>
          <p:cNvSpPr txBox="1"/>
          <p:nvPr/>
        </p:nvSpPr>
        <p:spPr>
          <a:xfrm>
            <a:off x="8064086" y="5296841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COT area changes for all iterations 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681F759-4D0E-BFDF-2058-915790DC0637}"/>
              </a:ext>
            </a:extLst>
          </p:cNvPr>
          <p:cNvCxnSpPr>
            <a:stCxn id="22" idx="3"/>
            <a:endCxn id="42" idx="0"/>
          </p:cNvCxnSpPr>
          <p:nvPr/>
        </p:nvCxnSpPr>
        <p:spPr>
          <a:xfrm>
            <a:off x="8539973" y="4822769"/>
            <a:ext cx="392683" cy="47407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F813A94-31F8-0425-AFDD-7B192E10602A}"/>
              </a:ext>
            </a:extLst>
          </p:cNvPr>
          <p:cNvSpPr txBox="1"/>
          <p:nvPr/>
        </p:nvSpPr>
        <p:spPr>
          <a:xfrm>
            <a:off x="265066" y="1319237"/>
            <a:ext cx="130676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u="sng" dirty="0"/>
              <a:t>Color legend:</a:t>
            </a:r>
          </a:p>
          <a:p>
            <a:r>
              <a:rPr lang="en-US" sz="1000" dirty="0">
                <a:solidFill>
                  <a:schemeClr val="accent5"/>
                </a:solidFill>
              </a:rPr>
              <a:t>Input/output values</a:t>
            </a:r>
          </a:p>
          <a:p>
            <a:r>
              <a:rPr lang="en-US" sz="1000" dirty="0">
                <a:solidFill>
                  <a:schemeClr val="accent1"/>
                </a:solidFill>
              </a:rPr>
              <a:t>Processes</a:t>
            </a:r>
          </a:p>
          <a:p>
            <a:r>
              <a:rPr lang="en-US" sz="1000" dirty="0"/>
              <a:t>Intermediate results</a:t>
            </a:r>
          </a:p>
          <a:p>
            <a:r>
              <a:rPr lang="en-US" sz="1000" dirty="0">
                <a:solidFill>
                  <a:schemeClr val="accent2"/>
                </a:solidFill>
              </a:rPr>
              <a:t>Comments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6189ABA3-863A-D868-6600-857C9F50CF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97401" y="2833633"/>
            <a:ext cx="558805" cy="3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9E842DA5-D974-0D54-5B45-E8317B6F8C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78151" y="2839242"/>
            <a:ext cx="558805" cy="3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79ED03-A639-5F80-E93E-7562392438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62526" y="2833632"/>
            <a:ext cx="558805" cy="3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481B49B-BE10-7CFE-571B-24176385E25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844476" y="1550069"/>
            <a:ext cx="1118" cy="6330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E73D9345-F790-B690-126D-502755066437}"/>
              </a:ext>
            </a:extLst>
          </p:cNvPr>
          <p:cNvSpPr txBox="1"/>
          <p:nvPr/>
        </p:nvSpPr>
        <p:spPr>
          <a:xfrm>
            <a:off x="5300229" y="1322493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</a:rPr>
              <a:t>Year 2016 </a:t>
            </a:r>
            <a:r>
              <a:rPr lang="en-US" sz="900" dirty="0">
                <a:solidFill>
                  <a:schemeClr val="accent5"/>
                </a:solidFill>
              </a:rPr>
              <a:t>map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391F59AA-457B-EEE8-09A2-DB0FE1C80AA9}"/>
              </a:ext>
            </a:extLst>
          </p:cNvPr>
          <p:cNvCxnSpPr>
            <a:cxnSpLocks/>
            <a:stCxn id="169" idx="2"/>
          </p:cNvCxnSpPr>
          <p:nvPr/>
        </p:nvCxnSpPr>
        <p:spPr>
          <a:xfrm>
            <a:off x="5850454" y="1553325"/>
            <a:ext cx="1118" cy="6330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3F0404D7-C001-0C0E-197E-F1D6D34C9BF2}"/>
              </a:ext>
            </a:extLst>
          </p:cNvPr>
          <p:cNvSpPr txBox="1"/>
          <p:nvPr/>
        </p:nvSpPr>
        <p:spPr>
          <a:xfrm>
            <a:off x="3326577" y="1319237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Year 2010 map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9E6BAA7-60A4-8431-7E3F-BF132472BFE7}"/>
              </a:ext>
            </a:extLst>
          </p:cNvPr>
          <p:cNvCxnSpPr>
            <a:cxnSpLocks/>
            <a:stCxn id="171" idx="2"/>
            <a:endCxn id="7" idx="0"/>
          </p:cNvCxnSpPr>
          <p:nvPr/>
        </p:nvCxnSpPr>
        <p:spPr>
          <a:xfrm>
            <a:off x="3876802" y="1550069"/>
            <a:ext cx="0" cy="63714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A090B2-AA66-A0EC-1C84-90DC1275025A}"/>
              </a:ext>
            </a:extLst>
          </p:cNvPr>
          <p:cNvSpPr txBox="1"/>
          <p:nvPr/>
        </p:nvSpPr>
        <p:spPr>
          <a:xfrm>
            <a:off x="7301260" y="2188380"/>
            <a:ext cx="110045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Year 2020 tree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DB390-8ABB-4C6C-283B-99D420AA78C5}"/>
              </a:ext>
            </a:extLst>
          </p:cNvPr>
          <p:cNvSpPr txBox="1"/>
          <p:nvPr/>
        </p:nvSpPr>
        <p:spPr>
          <a:xfrm>
            <a:off x="5303699" y="2187235"/>
            <a:ext cx="110045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Year 2016 tree area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93B88-170E-EDCC-F2F3-B24A8364BCD5}"/>
              </a:ext>
            </a:extLst>
          </p:cNvPr>
          <p:cNvSpPr txBox="1"/>
          <p:nvPr/>
        </p:nvSpPr>
        <p:spPr>
          <a:xfrm>
            <a:off x="3326577" y="2187213"/>
            <a:ext cx="110045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Year 2010 tree area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E12D96A-314E-B25E-9054-790F2D4F7B6E}"/>
              </a:ext>
            </a:extLst>
          </p:cNvPr>
          <p:cNvCxnSpPr>
            <a:cxnSpLocks/>
          </p:cNvCxnSpPr>
          <p:nvPr/>
        </p:nvCxnSpPr>
        <p:spPr>
          <a:xfrm rot="5400000">
            <a:off x="3523942" y="2988394"/>
            <a:ext cx="249284" cy="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EE4184-76EB-0CDE-E245-152D4CA4485C}"/>
              </a:ext>
            </a:extLst>
          </p:cNvPr>
          <p:cNvSpPr txBox="1"/>
          <p:nvPr/>
        </p:nvSpPr>
        <p:spPr>
          <a:xfrm>
            <a:off x="3403180" y="2694839"/>
            <a:ext cx="470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accent5"/>
                </a:solidFill>
              </a:rPr>
              <a:t>Bias (d)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66F72F1-4647-1C5D-D36A-60D67C618BD5}"/>
              </a:ext>
            </a:extLst>
          </p:cNvPr>
          <p:cNvCxnSpPr>
            <a:cxnSpLocks/>
          </p:cNvCxnSpPr>
          <p:nvPr/>
        </p:nvCxnSpPr>
        <p:spPr>
          <a:xfrm rot="5400000">
            <a:off x="5479742" y="2987043"/>
            <a:ext cx="249284" cy="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C000277-C2E8-B670-77A2-F6C3BC998E63}"/>
              </a:ext>
            </a:extLst>
          </p:cNvPr>
          <p:cNvSpPr txBox="1"/>
          <p:nvPr/>
        </p:nvSpPr>
        <p:spPr>
          <a:xfrm>
            <a:off x="5358980" y="2693488"/>
            <a:ext cx="470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accent5"/>
                </a:solidFill>
              </a:rPr>
              <a:t>Bias (d)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FA75665-5775-61E4-86D8-093307ECF472}"/>
              </a:ext>
            </a:extLst>
          </p:cNvPr>
          <p:cNvCxnSpPr>
            <a:cxnSpLocks/>
          </p:cNvCxnSpPr>
          <p:nvPr/>
        </p:nvCxnSpPr>
        <p:spPr>
          <a:xfrm rot="5400000">
            <a:off x="7474393" y="2982219"/>
            <a:ext cx="249284" cy="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B059A4F-CCD7-7D96-876D-5034DC42BAE0}"/>
              </a:ext>
            </a:extLst>
          </p:cNvPr>
          <p:cNvSpPr txBox="1"/>
          <p:nvPr/>
        </p:nvSpPr>
        <p:spPr>
          <a:xfrm>
            <a:off x="7353631" y="2688664"/>
            <a:ext cx="470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accent5"/>
                </a:solidFill>
              </a:rPr>
              <a:t>Bias (d)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9E48FE7-D16B-AB68-3D38-7DD2439BDC90}"/>
              </a:ext>
            </a:extLst>
          </p:cNvPr>
          <p:cNvCxnSpPr>
            <a:stCxn id="22" idx="2"/>
            <a:endCxn id="40" idx="0"/>
          </p:cNvCxnSpPr>
          <p:nvPr/>
        </p:nvCxnSpPr>
        <p:spPr>
          <a:xfrm rot="5400000">
            <a:off x="4379617" y="4723991"/>
            <a:ext cx="1219994" cy="1786883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1723DDA-2CA6-AF2B-AB55-8B565CA6824B}"/>
              </a:ext>
            </a:extLst>
          </p:cNvPr>
          <p:cNvCxnSpPr>
            <a:cxnSpLocks/>
            <a:stCxn id="22" idx="2"/>
            <a:endCxn id="52" idx="0"/>
          </p:cNvCxnSpPr>
          <p:nvPr/>
        </p:nvCxnSpPr>
        <p:spPr>
          <a:xfrm rot="16200000" flipH="1">
            <a:off x="6073706" y="4816783"/>
            <a:ext cx="1225214" cy="1606517"/>
          </a:xfrm>
          <a:prstGeom prst="bentConnector3">
            <a:avLst>
              <a:gd name="adj1" fmla="val 4974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FA6D75D-4728-4298-663C-905F572BBC75}"/>
              </a:ext>
            </a:extLst>
          </p:cNvPr>
          <p:cNvSpPr txBox="1"/>
          <p:nvPr/>
        </p:nvSpPr>
        <p:spPr>
          <a:xfrm>
            <a:off x="265066" y="765889"/>
            <a:ext cx="2265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 I: state-scope analysis</a:t>
            </a:r>
          </a:p>
        </p:txBody>
      </p:sp>
    </p:spTree>
    <p:extLst>
      <p:ext uri="{BB962C8B-B14F-4D97-AF65-F5344CB8AC3E}">
        <p14:creationId xmlns:p14="http://schemas.microsoft.com/office/powerpoint/2010/main" val="320176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CE07-65F8-2063-7023-CD184A20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08CB1E09-FF00-FB08-20EC-86CBD45BDE2A}"/>
              </a:ext>
            </a:extLst>
          </p:cNvPr>
          <p:cNvSpPr txBox="1"/>
          <p:nvPr/>
        </p:nvSpPr>
        <p:spPr>
          <a:xfrm>
            <a:off x="206702" y="132763"/>
            <a:ext cx="9565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Final Monte Carlo simulation workflow diagram for Nebraska state (page 2/2)</a:t>
            </a:r>
          </a:p>
          <a:p>
            <a:pPr algn="ctr"/>
            <a:r>
              <a:rPr lang="en-US" sz="1000" dirty="0"/>
              <a:t>Gabriel D. Ferreira and Shahriar S. Heydari, 6/17/2026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EB6D13-7A3E-0AF1-1536-D343D9A5BC10}"/>
              </a:ext>
            </a:extLst>
          </p:cNvPr>
          <p:cNvSpPr txBox="1"/>
          <p:nvPr/>
        </p:nvSpPr>
        <p:spPr>
          <a:xfrm>
            <a:off x="265066" y="765889"/>
            <a:ext cx="4780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 II: region/grid cell-scope analysis (no area uncertainty)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976DDF-95AF-D228-BD02-3A8B9068BE40}"/>
              </a:ext>
            </a:extLst>
          </p:cNvPr>
          <p:cNvSpPr txBox="1"/>
          <p:nvPr/>
        </p:nvSpPr>
        <p:spPr>
          <a:xfrm>
            <a:off x="1539055" y="7812692"/>
            <a:ext cx="4046950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Aggregate to: </a:t>
            </a:r>
            <a:br>
              <a:rPr lang="en-US" sz="900" dirty="0">
                <a:solidFill>
                  <a:schemeClr val="accent1"/>
                </a:solidFill>
              </a:rPr>
            </a:br>
            <a:r>
              <a:rPr lang="en-US" sz="900" dirty="0">
                <a:solidFill>
                  <a:schemeClr val="accent1"/>
                </a:solidFill>
              </a:rPr>
              <a:t>1) mean and </a:t>
            </a:r>
            <a:r>
              <a:rPr lang="en-US" sz="900" dirty="0" err="1">
                <a:solidFill>
                  <a:schemeClr val="accent1"/>
                </a:solidFill>
              </a:rPr>
              <a:t>stdev</a:t>
            </a:r>
            <a:r>
              <a:rPr lang="en-US" sz="900" dirty="0">
                <a:solidFill>
                  <a:schemeClr val="accent1"/>
                </a:solidFill>
              </a:rPr>
              <a:t> of biomass change (gain-loss) per pixel over all iterations</a:t>
            </a:r>
          </a:p>
          <a:p>
            <a:pPr algn="ctr"/>
            <a:r>
              <a:rPr lang="en-US" sz="900" dirty="0">
                <a:solidFill>
                  <a:schemeClr val="accent1"/>
                </a:solidFill>
              </a:rPr>
              <a:t>2) Sum biomass (initial, gain, loss, and change) and area (change between class) values over all pixels for each iteration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F1CB3D-4F3C-7B5F-AB54-692D411B756C}"/>
              </a:ext>
            </a:extLst>
          </p:cNvPr>
          <p:cNvSpPr txBox="1"/>
          <p:nvPr/>
        </p:nvSpPr>
        <p:spPr>
          <a:xfrm>
            <a:off x="1705869" y="8740628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Map of aggregation#1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04DCDB-831C-26E5-3478-BED6D7B94E44}"/>
              </a:ext>
            </a:extLst>
          </p:cNvPr>
          <p:cNvSpPr txBox="1"/>
          <p:nvPr/>
        </p:nvSpPr>
        <p:spPr>
          <a:xfrm>
            <a:off x="2439330" y="3665645"/>
            <a:ext cx="531383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1) Calculate area size for each COT</a:t>
            </a:r>
          </a:p>
          <a:p>
            <a:pPr algn="ctr"/>
            <a:r>
              <a:rPr lang="en-US" sz="900" dirty="0">
                <a:solidFill>
                  <a:schemeClr val="accent1"/>
                </a:solidFill>
              </a:rPr>
              <a:t>2) Do Plant/harvest year assignment for each COT as needed (§)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31AFA02-0AAE-CDA2-4734-80D3AB12F87C}"/>
              </a:ext>
            </a:extLst>
          </p:cNvPr>
          <p:cNvGrpSpPr/>
          <p:nvPr/>
        </p:nvGrpSpPr>
        <p:grpSpPr>
          <a:xfrm>
            <a:off x="1815754" y="6668068"/>
            <a:ext cx="1485187" cy="848679"/>
            <a:chOff x="3419475" y="2047875"/>
            <a:chExt cx="1800225" cy="1028700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33FC391-B937-D902-A147-BF2B6225EA31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C5C5B83-E24C-3B74-4CCA-EFA80983E530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8B712F8-7E7C-C671-687C-32F8364566C9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Initial, gain, and loss of biomass data set 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(2010-2016)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57208C5-C2FF-E4AE-FE7F-0197ED5FDC0E}"/>
              </a:ext>
            </a:extLst>
          </p:cNvPr>
          <p:cNvGrpSpPr/>
          <p:nvPr/>
        </p:nvGrpSpPr>
        <p:grpSpPr>
          <a:xfrm>
            <a:off x="3605216" y="6675688"/>
            <a:ext cx="1485187" cy="848676"/>
            <a:chOff x="3419475" y="2047876"/>
            <a:chExt cx="1800225" cy="1028699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D437A9B-7C2F-10F8-A88B-580A7BF3F4F6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64EF3A9-60BC-6D66-571C-9E615F0A1111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B06213C-29A2-E429-2F28-2F1E873072EB}"/>
                </a:ext>
              </a:extLst>
            </p:cNvPr>
            <p:cNvSpPr/>
            <p:nvPr/>
          </p:nvSpPr>
          <p:spPr>
            <a:xfrm>
              <a:off x="3419475" y="2047876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Initial, gain, and loss of biomass data set 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(2016-2020)</a:t>
              </a:r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CB57EDE-7B8F-4157-454A-B766E4E110C4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2681514" y="7516747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5BD9D2E-0170-B456-1140-573AA9B39684}"/>
              </a:ext>
            </a:extLst>
          </p:cNvPr>
          <p:cNvCxnSpPr>
            <a:cxnSpLocks/>
          </p:cNvCxnSpPr>
          <p:nvPr/>
        </p:nvCxnSpPr>
        <p:spPr>
          <a:xfrm>
            <a:off x="4475887" y="7516737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B7A2BF0-FA4A-15A0-7E6E-080FBD1FFC37}"/>
              </a:ext>
            </a:extLst>
          </p:cNvPr>
          <p:cNvSpPr txBox="1"/>
          <p:nvPr/>
        </p:nvSpPr>
        <p:spPr>
          <a:xfrm>
            <a:off x="1755736" y="6955480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AD0763-65DB-9205-719D-3914D493F6AD}"/>
              </a:ext>
            </a:extLst>
          </p:cNvPr>
          <p:cNvSpPr txBox="1"/>
          <p:nvPr/>
        </p:nvSpPr>
        <p:spPr>
          <a:xfrm>
            <a:off x="1871995" y="7163902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4BF23A-43A3-6876-4644-99FCCC3AF396}"/>
              </a:ext>
            </a:extLst>
          </p:cNvPr>
          <p:cNvSpPr txBox="1"/>
          <p:nvPr/>
        </p:nvSpPr>
        <p:spPr>
          <a:xfrm>
            <a:off x="2008615" y="7350895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1FB1BD-9AA0-4BE7-5CB3-97100456BA8A}"/>
              </a:ext>
            </a:extLst>
          </p:cNvPr>
          <p:cNvSpPr txBox="1"/>
          <p:nvPr/>
        </p:nvSpPr>
        <p:spPr>
          <a:xfrm>
            <a:off x="3544731" y="6973223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C7DE0FD-CEBC-EFBC-8B21-3FAF0DA36118}"/>
              </a:ext>
            </a:extLst>
          </p:cNvPr>
          <p:cNvSpPr txBox="1"/>
          <p:nvPr/>
        </p:nvSpPr>
        <p:spPr>
          <a:xfrm>
            <a:off x="3658320" y="7170367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8B33230-4DD1-80DF-C937-AC13A30A230D}"/>
              </a:ext>
            </a:extLst>
          </p:cNvPr>
          <p:cNvSpPr txBox="1"/>
          <p:nvPr/>
        </p:nvSpPr>
        <p:spPr>
          <a:xfrm>
            <a:off x="3792358" y="7350778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B80D338-91EB-4EAC-CFD6-E35C319F8886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4117792" y="4034977"/>
            <a:ext cx="1975" cy="54171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7C8F94A-3BAE-8329-3CC5-12C4551D06F0}"/>
              </a:ext>
            </a:extLst>
          </p:cNvPr>
          <p:cNvCxnSpPr>
            <a:cxnSpLocks/>
          </p:cNvCxnSpPr>
          <p:nvPr/>
        </p:nvCxnSpPr>
        <p:spPr>
          <a:xfrm flipH="1">
            <a:off x="4117792" y="6256589"/>
            <a:ext cx="1975" cy="4163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56B2F39-5800-0648-AE62-1AF1ED0AEBA1}"/>
              </a:ext>
            </a:extLst>
          </p:cNvPr>
          <p:cNvGrpSpPr/>
          <p:nvPr/>
        </p:nvGrpSpPr>
        <p:grpSpPr>
          <a:xfrm>
            <a:off x="3500929" y="4576689"/>
            <a:ext cx="1485186" cy="848679"/>
            <a:chOff x="3419475" y="2047875"/>
            <a:chExt cx="1800225" cy="102870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340642F-112A-E56E-A6DC-2117AA774517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8695BE0-E81F-4842-AAB7-E9C483EE1229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36D954D-DD48-58E4-F1B8-CAB0ED256DDA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Monte Carlo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plant year data set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1008425-BC67-2C5F-7A65-F1686C49C6CB}"/>
              </a:ext>
            </a:extLst>
          </p:cNvPr>
          <p:cNvGrpSpPr/>
          <p:nvPr/>
        </p:nvGrpSpPr>
        <p:grpSpPr>
          <a:xfrm>
            <a:off x="5468402" y="4570914"/>
            <a:ext cx="1485186" cy="848679"/>
            <a:chOff x="3419475" y="2047875"/>
            <a:chExt cx="1800225" cy="102870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BE06160-E6AD-5EDB-82EA-779B5A392357}"/>
                </a:ext>
              </a:extLst>
            </p:cNvPr>
            <p:cNvSpPr/>
            <p:nvPr/>
          </p:nvSpPr>
          <p:spPr>
            <a:xfrm>
              <a:off x="3724275" y="2505075"/>
              <a:ext cx="1495425" cy="5715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C070609-3D03-295E-4EED-3C05403E7DBF}"/>
                </a:ext>
              </a:extLst>
            </p:cNvPr>
            <p:cNvSpPr/>
            <p:nvPr/>
          </p:nvSpPr>
          <p:spPr>
            <a:xfrm>
              <a:off x="3571875" y="22764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1706F23-48DE-6CED-2D86-00E6BB20B4F3}"/>
                </a:ext>
              </a:extLst>
            </p:cNvPr>
            <p:cNvSpPr/>
            <p:nvPr/>
          </p:nvSpPr>
          <p:spPr>
            <a:xfrm>
              <a:off x="3419475" y="2047875"/>
              <a:ext cx="1495425" cy="5715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Monte Carlo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harvest year data set 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E5B7C2B-6893-CF38-AF7A-976BF85ECE31}"/>
              </a:ext>
            </a:extLst>
          </p:cNvPr>
          <p:cNvCxnSpPr>
            <a:cxnSpLocks/>
          </p:cNvCxnSpPr>
          <p:nvPr/>
        </p:nvCxnSpPr>
        <p:spPr>
          <a:xfrm>
            <a:off x="6085979" y="4034977"/>
            <a:ext cx="0" cy="5356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C8D4CCF-CDFA-33E8-D2F3-22458A3373FF}"/>
              </a:ext>
            </a:extLst>
          </p:cNvPr>
          <p:cNvSpPr txBox="1"/>
          <p:nvPr/>
        </p:nvSpPr>
        <p:spPr>
          <a:xfrm>
            <a:off x="2258963" y="5879811"/>
            <a:ext cx="210080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Calculate standing biomass at </a:t>
            </a:r>
          </a:p>
          <a:p>
            <a:pPr algn="ctr"/>
            <a:r>
              <a:rPr lang="en-US" sz="900" dirty="0">
                <a:solidFill>
                  <a:schemeClr val="accent1"/>
                </a:solidFill>
              </a:rPr>
              <a:t>2010, 2016, and 2020 (§§)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BE322A7-81CD-62E0-101E-2065FD1592C0}"/>
              </a:ext>
            </a:extLst>
          </p:cNvPr>
          <p:cNvCxnSpPr>
            <a:cxnSpLocks/>
          </p:cNvCxnSpPr>
          <p:nvPr/>
        </p:nvCxnSpPr>
        <p:spPr>
          <a:xfrm>
            <a:off x="2413795" y="6248969"/>
            <a:ext cx="0" cy="423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AD61A174-9C7B-E7AA-82E7-31BC3FBF7AB4}"/>
              </a:ext>
            </a:extLst>
          </p:cNvPr>
          <p:cNvSpPr txBox="1"/>
          <p:nvPr/>
        </p:nvSpPr>
        <p:spPr>
          <a:xfrm>
            <a:off x="185280" y="11590345"/>
            <a:ext cx="9562880" cy="92333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(§§) Having plant/harvest years, we can calculate how the biomass changes through given periods for each COT category: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Standing biomass is counted from planting year onwards to the period start.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If tree is harvested, all previous biomass is lost.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If tree is not harvested, the biomass will increase by a factor according to the age class (young/mature/old) defined by age thresholds. 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Note that the growing gain values for each Monte Carlo iteration is drawn from a normal distribution with given mean and standard deviation. These values are already calculated and saved in a .csv file so Monte Carlo iterations over all cells will use the same random sequence.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E12D00B-F2F1-7E3C-B1CE-473F774E06A5}"/>
              </a:ext>
            </a:extLst>
          </p:cNvPr>
          <p:cNvSpPr txBox="1"/>
          <p:nvPr/>
        </p:nvSpPr>
        <p:spPr>
          <a:xfrm>
            <a:off x="186577" y="10541128"/>
            <a:ext cx="9562880" cy="92333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(§) This processing is done in below steps for each COT category: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Random plantation/harvesting years are assigned for cases given in Table 1.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An age for 2016 is assigned for cases 110 and 111 and the corresponding planting year is set. </a:t>
            </a:r>
          </a:p>
          <a:p>
            <a:pPr marL="171450" indent="-171450">
              <a:buFontTx/>
              <a:buChar char="-"/>
            </a:pPr>
            <a:r>
              <a:rPr lang="en-US" sz="900" dirty="0">
                <a:solidFill>
                  <a:schemeClr val="accent2"/>
                </a:solidFill>
              </a:rPr>
              <a:t>An age for 2010 is assigned for cases 100 and 101 and the corresponding planting year is set (will be before 2010).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Note that all random assignments should be identical over grid cells. Therefore, these values are already calculated and saved in a .csv file so Monte Carlo iterations over all cells will use the same random sequence.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8223DF0-28ED-84CF-5484-C82065A1495E}"/>
              </a:ext>
            </a:extLst>
          </p:cNvPr>
          <p:cNvSpPr txBox="1"/>
          <p:nvPr/>
        </p:nvSpPr>
        <p:spPr>
          <a:xfrm>
            <a:off x="667923" y="5893858"/>
            <a:ext cx="1110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Biomass growth factors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9CB89E6E-D147-F456-8E72-3C2BF73E0A85}"/>
              </a:ext>
            </a:extLst>
          </p:cNvPr>
          <p:cNvCxnSpPr>
            <a:cxnSpLocks/>
          </p:cNvCxnSpPr>
          <p:nvPr/>
        </p:nvCxnSpPr>
        <p:spPr>
          <a:xfrm>
            <a:off x="1660975" y="6078524"/>
            <a:ext cx="554372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B887350F-2D47-FD4D-5293-B55D54E4A111}"/>
              </a:ext>
            </a:extLst>
          </p:cNvPr>
          <p:cNvSpPr txBox="1"/>
          <p:nvPr/>
        </p:nvSpPr>
        <p:spPr>
          <a:xfrm>
            <a:off x="5711072" y="5884388"/>
            <a:ext cx="2100803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Calculate histogram of growing and harvested tree ages over </a:t>
            </a:r>
            <a:br>
              <a:rPr lang="en-US" sz="900" dirty="0">
                <a:solidFill>
                  <a:schemeClr val="accent1"/>
                </a:solidFill>
              </a:rPr>
            </a:br>
            <a:r>
              <a:rPr lang="en-US" sz="900" dirty="0">
                <a:solidFill>
                  <a:schemeClr val="accent1"/>
                </a:solidFill>
              </a:rPr>
              <a:t>2010~2016 and 2016~2020 (§§§)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2732A93B-339D-10EC-868F-25D94BE373D5}"/>
              </a:ext>
            </a:extLst>
          </p:cNvPr>
          <p:cNvCxnSpPr>
            <a:stCxn id="123" idx="2"/>
            <a:endCxn id="127" idx="0"/>
          </p:cNvCxnSpPr>
          <p:nvPr/>
        </p:nvCxnSpPr>
        <p:spPr>
          <a:xfrm rot="5400000">
            <a:off x="4592936" y="4136022"/>
            <a:ext cx="460218" cy="3027360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0593CBFC-7936-6DB8-D2B9-FDA5B19E9178}"/>
              </a:ext>
            </a:extLst>
          </p:cNvPr>
          <p:cNvCxnSpPr>
            <a:stCxn id="111" idx="2"/>
            <a:endCxn id="175" idx="0"/>
          </p:cNvCxnSpPr>
          <p:nvPr/>
        </p:nvCxnSpPr>
        <p:spPr>
          <a:xfrm rot="16200000" flipH="1">
            <a:off x="5335853" y="4458767"/>
            <a:ext cx="459020" cy="2392222"/>
          </a:xfrm>
          <a:prstGeom prst="bentConnector3">
            <a:avLst>
              <a:gd name="adj1" fmla="val 4948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0C59D87A-3B04-E139-7F18-99EB271655EE}"/>
              </a:ext>
            </a:extLst>
          </p:cNvPr>
          <p:cNvSpPr/>
          <p:nvPr/>
        </p:nvSpPr>
        <p:spPr>
          <a:xfrm>
            <a:off x="6315563" y="56287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7620BBCA-0543-D1D3-105D-7EE378C8F537}"/>
              </a:ext>
            </a:extLst>
          </p:cNvPr>
          <p:cNvSpPr/>
          <p:nvPr/>
        </p:nvSpPr>
        <p:spPr>
          <a:xfrm>
            <a:off x="4346432" y="562730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19266AF-298C-C271-0036-1132719A8CAF}"/>
              </a:ext>
            </a:extLst>
          </p:cNvPr>
          <p:cNvSpPr txBox="1"/>
          <p:nvPr/>
        </p:nvSpPr>
        <p:spPr>
          <a:xfrm>
            <a:off x="3707039" y="8746753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Vector of aggregation#2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02E6C93-3C49-42E8-B358-02FE97D50B7C}"/>
              </a:ext>
            </a:extLst>
          </p:cNvPr>
          <p:cNvCxnSpPr>
            <a:cxnSpLocks/>
          </p:cNvCxnSpPr>
          <p:nvPr/>
        </p:nvCxnSpPr>
        <p:spPr>
          <a:xfrm flipH="1">
            <a:off x="2681514" y="8456876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AEE1A27-4701-C687-5051-1A695DD4393C}"/>
              </a:ext>
            </a:extLst>
          </p:cNvPr>
          <p:cNvCxnSpPr>
            <a:cxnSpLocks/>
          </p:cNvCxnSpPr>
          <p:nvPr/>
        </p:nvCxnSpPr>
        <p:spPr>
          <a:xfrm>
            <a:off x="4475887" y="8456866"/>
            <a:ext cx="2564" cy="29145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BDB766A5-6F66-82E2-6010-026BFE2CBD5A}"/>
              </a:ext>
            </a:extLst>
          </p:cNvPr>
          <p:cNvSpPr txBox="1"/>
          <p:nvPr/>
        </p:nvSpPr>
        <p:spPr>
          <a:xfrm>
            <a:off x="5905803" y="6878542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Age histogram for all iterations 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B7FE877-0805-E94C-EAA3-41D9591A9237}"/>
              </a:ext>
            </a:extLst>
          </p:cNvPr>
          <p:cNvCxnSpPr>
            <a:cxnSpLocks/>
            <a:endCxn id="183" idx="0"/>
          </p:cNvCxnSpPr>
          <p:nvPr/>
        </p:nvCxnSpPr>
        <p:spPr>
          <a:xfrm flipH="1">
            <a:off x="6774373" y="6392862"/>
            <a:ext cx="2959" cy="4856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2794955A-681B-A17C-2F40-3FE65C9D4BA7}"/>
              </a:ext>
            </a:extLst>
          </p:cNvPr>
          <p:cNvSpPr txBox="1"/>
          <p:nvPr/>
        </p:nvSpPr>
        <p:spPr>
          <a:xfrm>
            <a:off x="5907390" y="7714033"/>
            <a:ext cx="1737139" cy="92333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B050"/>
                </a:solidFill>
              </a:rPr>
              <a:t>Add the biomass  values/histogram counts for each iteration over all cells to generate N value sets over whole Nebraska and get the whole-NE statistics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D49BE9A-3E60-D8E0-B321-DCE60AFDFF47}"/>
              </a:ext>
            </a:extLst>
          </p:cNvPr>
          <p:cNvSpPr txBox="1"/>
          <p:nvPr/>
        </p:nvSpPr>
        <p:spPr>
          <a:xfrm>
            <a:off x="1573049" y="9678357"/>
            <a:ext cx="2002777" cy="646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B050"/>
                </a:solidFill>
              </a:rPr>
              <a:t>Mosaic with other cells output to generate whole-NE map</a:t>
            </a:r>
            <a:br>
              <a:rPr lang="en-US" sz="900" dirty="0">
                <a:solidFill>
                  <a:srgbClr val="00B050"/>
                </a:solidFill>
              </a:rPr>
            </a:br>
            <a:r>
              <a:rPr lang="en-US" sz="900" i="1" u="sng" dirty="0">
                <a:solidFill>
                  <a:srgbClr val="00B050"/>
                </a:solidFill>
              </a:rPr>
              <a:t>Optional: Masking with CDL to get statistics for grassland and cropland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238DAF9-AFB4-9F42-C36B-D4BB5743B9C7}"/>
              </a:ext>
            </a:extLst>
          </p:cNvPr>
          <p:cNvCxnSpPr>
            <a:cxnSpLocks/>
            <a:stCxn id="82" idx="2"/>
            <a:endCxn id="186" idx="0"/>
          </p:cNvCxnSpPr>
          <p:nvPr/>
        </p:nvCxnSpPr>
        <p:spPr>
          <a:xfrm flipH="1">
            <a:off x="2574438" y="9248459"/>
            <a:ext cx="1" cy="42989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072C4AD6-C949-3209-B52E-E14A4AB0ADF5}"/>
              </a:ext>
            </a:extLst>
          </p:cNvPr>
          <p:cNvCxnSpPr>
            <a:stCxn id="180" idx="3"/>
            <a:endCxn id="185" idx="2"/>
          </p:cNvCxnSpPr>
          <p:nvPr/>
        </p:nvCxnSpPr>
        <p:spPr>
          <a:xfrm flipV="1">
            <a:off x="5444178" y="8637363"/>
            <a:ext cx="1331782" cy="363306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721CC5F0-1B71-8A20-7ED6-07D8F1B18C02}"/>
              </a:ext>
            </a:extLst>
          </p:cNvPr>
          <p:cNvCxnSpPr>
            <a:stCxn id="183" idx="2"/>
            <a:endCxn id="185" idx="0"/>
          </p:cNvCxnSpPr>
          <p:nvPr/>
        </p:nvCxnSpPr>
        <p:spPr>
          <a:xfrm rot="16200000" flipH="1">
            <a:off x="6611336" y="7549409"/>
            <a:ext cx="327660" cy="1587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78029DB5-7723-E514-C108-0A2D6851B0F7}"/>
              </a:ext>
            </a:extLst>
          </p:cNvPr>
          <p:cNvSpPr txBox="1"/>
          <p:nvPr/>
        </p:nvSpPr>
        <p:spPr>
          <a:xfrm>
            <a:off x="185280" y="12635186"/>
            <a:ext cx="9562880" cy="78483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</a:rPr>
              <a:t>(§§§) For this step, the whole age range of 0~160 is binned to 5 </a:t>
            </a:r>
            <a:r>
              <a:rPr lang="en-US" sz="900">
                <a:solidFill>
                  <a:schemeClr val="accent2"/>
                </a:solidFill>
              </a:rPr>
              <a:t>year ranges. </a:t>
            </a:r>
            <a:r>
              <a:rPr lang="en-US" sz="900" dirty="0">
                <a:solidFill>
                  <a:schemeClr val="accent2"/>
                </a:solidFill>
              </a:rPr>
              <a:t>Then for each iteration/time period: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The average age for any pixel that experiences growth is calculated.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The age of harvest for any pixel that experiences harvest is recorded.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- Set of above values for all pixels are binned to make the histogram for the corresponding iteration/time period.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Note: non-changing pixels are not counted as they do not undergo any growth or harvest.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167060E-F672-91B1-0816-A04A1614B1BB}"/>
              </a:ext>
            </a:extLst>
          </p:cNvPr>
          <p:cNvSpPr txBox="1"/>
          <p:nvPr/>
        </p:nvSpPr>
        <p:spPr>
          <a:xfrm>
            <a:off x="6507444" y="1319237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Year 2020 map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DC0E2A8-320C-0678-9F6E-26816DE23CD2}"/>
              </a:ext>
            </a:extLst>
          </p:cNvPr>
          <p:cNvSpPr txBox="1"/>
          <p:nvPr/>
        </p:nvSpPr>
        <p:spPr>
          <a:xfrm>
            <a:off x="4120009" y="403946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7175E96-5177-8AB7-ADFE-1B860ADEC6B5}"/>
              </a:ext>
            </a:extLst>
          </p:cNvPr>
          <p:cNvSpPr txBox="1"/>
          <p:nvPr/>
        </p:nvSpPr>
        <p:spPr>
          <a:xfrm>
            <a:off x="6083129" y="4031917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E014F02-A546-907D-A87B-90C35EDDF909}"/>
              </a:ext>
            </a:extLst>
          </p:cNvPr>
          <p:cNvSpPr txBox="1"/>
          <p:nvPr/>
        </p:nvSpPr>
        <p:spPr>
          <a:xfrm>
            <a:off x="7277279" y="5133395"/>
            <a:ext cx="1737139" cy="5078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B050"/>
                </a:solidFill>
              </a:rPr>
              <a:t>Add tree area change matrices over all cells to get the whole-NE statistics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3F7DE96-0980-CAA2-EBEC-2DC484333EAF}"/>
              </a:ext>
            </a:extLst>
          </p:cNvPr>
          <p:cNvSpPr txBox="1"/>
          <p:nvPr/>
        </p:nvSpPr>
        <p:spPr>
          <a:xfrm>
            <a:off x="7277279" y="4324383"/>
            <a:ext cx="1737139" cy="5078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Tree area changes for all iterations for years </a:t>
            </a:r>
            <a:br>
              <a:rPr lang="en-US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2010-2016 and 2016-2020</a:t>
            </a:r>
          </a:p>
        </p:txBody>
      </p: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8CC09A5D-9706-F1EF-7EF5-B606AC31D15B}"/>
              </a:ext>
            </a:extLst>
          </p:cNvPr>
          <p:cNvCxnSpPr>
            <a:stCxn id="83" idx="3"/>
            <a:endCxn id="195" idx="0"/>
          </p:cNvCxnSpPr>
          <p:nvPr/>
        </p:nvCxnSpPr>
        <p:spPr>
          <a:xfrm>
            <a:off x="7753166" y="3850311"/>
            <a:ext cx="392683" cy="47407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09B7391C-68AF-95A3-AC92-16FA27EA2B1E}"/>
              </a:ext>
            </a:extLst>
          </p:cNvPr>
          <p:cNvSpPr txBox="1"/>
          <p:nvPr/>
        </p:nvSpPr>
        <p:spPr>
          <a:xfrm>
            <a:off x="7753695" y="3625490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44D680B-63BE-2927-5816-7F04377996BA}"/>
              </a:ext>
            </a:extLst>
          </p:cNvPr>
          <p:cNvCxnSpPr>
            <a:stCxn id="195" idx="2"/>
            <a:endCxn id="194" idx="0"/>
          </p:cNvCxnSpPr>
          <p:nvPr/>
        </p:nvCxnSpPr>
        <p:spPr>
          <a:xfrm>
            <a:off x="8145849" y="4832214"/>
            <a:ext cx="0" cy="301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CCF43805-723C-AE50-642D-C894CB8BB72F}"/>
              </a:ext>
            </a:extLst>
          </p:cNvPr>
          <p:cNvSpPr txBox="1"/>
          <p:nvPr/>
        </p:nvSpPr>
        <p:spPr>
          <a:xfrm>
            <a:off x="2640313" y="846151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9FC1AD5-7AB1-F944-3E71-453359D3CEAC}"/>
              </a:ext>
            </a:extLst>
          </p:cNvPr>
          <p:cNvSpPr txBox="1"/>
          <p:nvPr/>
        </p:nvSpPr>
        <p:spPr>
          <a:xfrm>
            <a:off x="4479484" y="847135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10948CA-4884-6011-4150-65A7F3C8D82D}"/>
              </a:ext>
            </a:extLst>
          </p:cNvPr>
          <p:cNvSpPr txBox="1"/>
          <p:nvPr/>
        </p:nvSpPr>
        <p:spPr>
          <a:xfrm>
            <a:off x="4249763" y="2342846"/>
            <a:ext cx="164149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Cropping to region boundary and </a:t>
            </a:r>
            <a:r>
              <a:rPr lang="en-US" sz="900" dirty="0" err="1">
                <a:solidFill>
                  <a:schemeClr val="accent1"/>
                </a:solidFill>
              </a:rPr>
              <a:t>Downsampling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FD3855A-EF0B-F772-A0BA-A35C55F9DDCE}"/>
              </a:ext>
            </a:extLst>
          </p:cNvPr>
          <p:cNvSpPr txBox="1"/>
          <p:nvPr/>
        </p:nvSpPr>
        <p:spPr>
          <a:xfrm>
            <a:off x="2269400" y="2343095"/>
            <a:ext cx="164149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Cropping to region boundary and </a:t>
            </a:r>
            <a:r>
              <a:rPr lang="en-US" sz="900" dirty="0" err="1">
                <a:solidFill>
                  <a:schemeClr val="accent1"/>
                </a:solidFill>
              </a:rPr>
              <a:t>Downsampling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71E292E-EB3D-AD46-8AA8-2E1DA44918D2}"/>
              </a:ext>
            </a:extLst>
          </p:cNvPr>
          <p:cNvSpPr txBox="1"/>
          <p:nvPr/>
        </p:nvSpPr>
        <p:spPr>
          <a:xfrm>
            <a:off x="6238039" y="2341883"/>
            <a:ext cx="164149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Cropping to region boundary and </a:t>
            </a:r>
            <a:r>
              <a:rPr lang="en-US" sz="900" dirty="0" err="1">
                <a:solidFill>
                  <a:schemeClr val="accent1"/>
                </a:solidFill>
              </a:rPr>
              <a:t>Downsampling</a:t>
            </a:r>
            <a:endParaRPr lang="en-US" sz="900" dirty="0">
              <a:solidFill>
                <a:schemeClr val="accent1"/>
              </a:solidFill>
            </a:endParaRP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6BEADBA7-0940-083C-6774-6F5E040A4524}"/>
              </a:ext>
            </a:extLst>
          </p:cNvPr>
          <p:cNvCxnSpPr>
            <a:cxnSpLocks/>
            <a:stCxn id="206" idx="2"/>
          </p:cNvCxnSpPr>
          <p:nvPr/>
        </p:nvCxnSpPr>
        <p:spPr>
          <a:xfrm rot="5400000">
            <a:off x="2615711" y="3186714"/>
            <a:ext cx="948725" cy="15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2FBF6D83-ECC4-908E-A51C-5003E3A17F01}"/>
              </a:ext>
            </a:extLst>
          </p:cNvPr>
          <p:cNvCxnSpPr>
            <a:cxnSpLocks/>
            <a:stCxn id="205" idx="2"/>
            <a:endCxn id="83" idx="0"/>
          </p:cNvCxnSpPr>
          <p:nvPr/>
        </p:nvCxnSpPr>
        <p:spPr>
          <a:xfrm rot="16200000" flipH="1">
            <a:off x="4593778" y="3188910"/>
            <a:ext cx="953467" cy="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3AB4E17F-04E1-9AF2-7676-A8CD35D81C60}"/>
              </a:ext>
            </a:extLst>
          </p:cNvPr>
          <p:cNvCxnSpPr>
            <a:cxnSpLocks/>
            <a:stCxn id="207" idx="2"/>
          </p:cNvCxnSpPr>
          <p:nvPr/>
        </p:nvCxnSpPr>
        <p:spPr>
          <a:xfrm rot="5400000">
            <a:off x="6584067" y="3185935"/>
            <a:ext cx="949440" cy="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D5993103-4E3B-5803-41FD-8A107EA4839F}"/>
              </a:ext>
            </a:extLst>
          </p:cNvPr>
          <p:cNvSpPr txBox="1"/>
          <p:nvPr/>
        </p:nvSpPr>
        <p:spPr>
          <a:xfrm>
            <a:off x="5411664" y="1764940"/>
            <a:ext cx="123444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Region boundary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D2F1BDB1-C68A-E851-3C87-0AA2008A921B}"/>
              </a:ext>
            </a:extLst>
          </p:cNvPr>
          <p:cNvCxnSpPr>
            <a:cxnSpLocks/>
            <a:stCxn id="191" idx="2"/>
            <a:endCxn id="207" idx="0"/>
          </p:cNvCxnSpPr>
          <p:nvPr/>
        </p:nvCxnSpPr>
        <p:spPr>
          <a:xfrm>
            <a:off x="7057669" y="1550069"/>
            <a:ext cx="1118" cy="79181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7AED4F91-CB7B-39FA-C6B6-0E7FC41612DF}"/>
              </a:ext>
            </a:extLst>
          </p:cNvPr>
          <p:cNvSpPr txBox="1"/>
          <p:nvPr/>
        </p:nvSpPr>
        <p:spPr>
          <a:xfrm>
            <a:off x="4513422" y="1322493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</a:rPr>
              <a:t>Year 2016 </a:t>
            </a:r>
            <a:r>
              <a:rPr lang="en-US" sz="900" dirty="0">
                <a:solidFill>
                  <a:schemeClr val="accent5"/>
                </a:solidFill>
              </a:rPr>
              <a:t>map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7A5C81E0-CE87-3EC5-87A8-40ED9AC5C5C8}"/>
              </a:ext>
            </a:extLst>
          </p:cNvPr>
          <p:cNvCxnSpPr>
            <a:cxnSpLocks/>
            <a:stCxn id="213" idx="2"/>
            <a:endCxn id="205" idx="0"/>
          </p:cNvCxnSpPr>
          <p:nvPr/>
        </p:nvCxnSpPr>
        <p:spPr>
          <a:xfrm>
            <a:off x="5063647" y="1553325"/>
            <a:ext cx="6864" cy="78952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9FB701DA-BED8-BB7D-CA13-144EB4044E90}"/>
              </a:ext>
            </a:extLst>
          </p:cNvPr>
          <p:cNvSpPr txBox="1"/>
          <p:nvPr/>
        </p:nvSpPr>
        <p:spPr>
          <a:xfrm>
            <a:off x="2535122" y="1319237"/>
            <a:ext cx="110045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5"/>
                </a:solidFill>
              </a:rPr>
              <a:t>Year 2010 map</a:t>
            </a: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A831487C-7067-EA06-9288-36B7A0B2CFEF}"/>
              </a:ext>
            </a:extLst>
          </p:cNvPr>
          <p:cNvCxnSpPr>
            <a:cxnSpLocks/>
            <a:stCxn id="215" idx="2"/>
            <a:endCxn id="206" idx="0"/>
          </p:cNvCxnSpPr>
          <p:nvPr/>
        </p:nvCxnSpPr>
        <p:spPr>
          <a:xfrm>
            <a:off x="3085347" y="1550069"/>
            <a:ext cx="4801" cy="79302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FC56C3ED-2B62-B003-69E6-695587692603}"/>
              </a:ext>
            </a:extLst>
          </p:cNvPr>
          <p:cNvCxnSpPr>
            <a:cxnSpLocks/>
            <a:stCxn id="211" idx="2"/>
          </p:cNvCxnSpPr>
          <p:nvPr/>
        </p:nvCxnSpPr>
        <p:spPr>
          <a:xfrm>
            <a:off x="6028884" y="1995772"/>
            <a:ext cx="209155" cy="341534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CE19AD70-7A9B-F026-D851-0E1A8A599D9D}"/>
              </a:ext>
            </a:extLst>
          </p:cNvPr>
          <p:cNvCxnSpPr>
            <a:cxnSpLocks/>
            <a:stCxn id="211" idx="2"/>
          </p:cNvCxnSpPr>
          <p:nvPr/>
        </p:nvCxnSpPr>
        <p:spPr>
          <a:xfrm flipH="1">
            <a:off x="5891259" y="1995772"/>
            <a:ext cx="137625" cy="342497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609D0707-3283-6EF0-66B5-4E8497A8A118}"/>
              </a:ext>
            </a:extLst>
          </p:cNvPr>
          <p:cNvCxnSpPr>
            <a:cxnSpLocks/>
            <a:stCxn id="211" idx="2"/>
          </p:cNvCxnSpPr>
          <p:nvPr/>
        </p:nvCxnSpPr>
        <p:spPr>
          <a:xfrm flipH="1">
            <a:off x="3910896" y="1995772"/>
            <a:ext cx="2117988" cy="342497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1BB235C2-2D91-B664-49AA-07098D04D6F2}"/>
              </a:ext>
            </a:extLst>
          </p:cNvPr>
          <p:cNvSpPr txBox="1"/>
          <p:nvPr/>
        </p:nvSpPr>
        <p:spPr>
          <a:xfrm>
            <a:off x="7918644" y="2910370"/>
            <a:ext cx="98174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Calculate pixels</a:t>
            </a:r>
          </a:p>
          <a:p>
            <a:pPr algn="ctr"/>
            <a:r>
              <a:rPr lang="en-US" sz="900" dirty="0">
                <a:solidFill>
                  <a:schemeClr val="accent1"/>
                </a:solidFill>
              </a:rPr>
              <a:t>area size</a:t>
            </a:r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412B82CC-1919-C8E5-B31C-EAB5B42DDB39}"/>
              </a:ext>
            </a:extLst>
          </p:cNvPr>
          <p:cNvCxnSpPr>
            <a:stCxn id="191" idx="3"/>
            <a:endCxn id="253" idx="0"/>
          </p:cNvCxnSpPr>
          <p:nvPr/>
        </p:nvCxnSpPr>
        <p:spPr>
          <a:xfrm>
            <a:off x="7607894" y="1434653"/>
            <a:ext cx="801625" cy="1475717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59048FC4-6C0B-770C-F2F9-F70F0882D79A}"/>
              </a:ext>
            </a:extLst>
          </p:cNvPr>
          <p:cNvCxnSpPr>
            <a:cxnSpLocks/>
            <a:stCxn id="253" idx="1"/>
          </p:cNvCxnSpPr>
          <p:nvPr/>
        </p:nvCxnSpPr>
        <p:spPr>
          <a:xfrm rot="10800000" flipV="1">
            <a:off x="7409456" y="3095036"/>
            <a:ext cx="509188" cy="563234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4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10009</TotalTime>
  <Words>1581</Words>
  <Application>Microsoft Office PowerPoint</Application>
  <PresentationFormat>Custom</PresentationFormat>
  <Paragraphs>217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</vt:vector>
  </TitlesOfParts>
  <Company>Colorado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Shah Heydari</dc:creator>
  <cp:lastModifiedBy>Shahriar Shah Heydari</cp:lastModifiedBy>
  <cp:revision>81</cp:revision>
  <dcterms:created xsi:type="dcterms:W3CDTF">2025-04-28T21:13:05Z</dcterms:created>
  <dcterms:modified xsi:type="dcterms:W3CDTF">2026-06-17T15:20:34Z</dcterms:modified>
</cp:coreProperties>
</file>